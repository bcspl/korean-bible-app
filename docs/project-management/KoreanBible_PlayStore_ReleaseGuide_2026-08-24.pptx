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93E8"/>
                </a:solidFill>
                <a:latin typeface="Segoe UI"/>
              </a:rPr>
              <a:t>PROJECT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7F8F8"/>
                </a:solidFill>
                <a:latin typeface="Segoe UI"/>
              </a:rPr>
              <a:t>앞으로 할 작업 &amp; Play Store 출시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8F98"/>
                </a:solidFill>
                <a:latin typeface="Segoe UI"/>
              </a:rPr>
              <a:t>한국어 성경 앱  ·  Public Domain  ·  목표 공개 2026-11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제품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~92%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16B"/>
                </a:solidFill>
                <a:latin typeface="Segoe UI"/>
              </a:rPr>
              <a:t>기능·콘텐츠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393192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06908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스토어 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38912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~20%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93776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16B"/>
                </a:solidFill>
                <a:latin typeface="Segoe UI"/>
              </a:rPr>
              <a:t>서명·정책·리스팅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93192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406908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다음 차단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38912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3건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937760"/>
            <a:ext cx="2834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16B"/>
                </a:solidFill>
                <a:latin typeface="Segoe UI"/>
              </a:rPr>
              <a:t>ID · Key ·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6928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16B"/>
                </a:solidFill>
                <a:latin typeface="Segoe UI"/>
              </a:rPr>
              <a:t>Updated 2026-08-24  ·  Linear-inspired dark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이 문서에서 다루는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작업 백로그와 Play 출시 절차를 한 덱에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E6AD2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7452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현재 상태와 차단 항목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E6AD2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87452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앞으로 할 작업 (Sprint A–D)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E6AD2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10896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Play Store end-to-end 절차 (Phase 0–8)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8892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044952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E6AD2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10896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로컬 서명 · AAB 빌드 명령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2336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79392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E6AD2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34340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스토어 리스팅 · 정책 · 심사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02336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279392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E6AD2"/>
                </a:solidFill>
                <a:latin typeface="Segoe U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343400"/>
            <a:ext cx="3931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월별 로드맵 · 즉시 Next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현재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제품은 거의 완성 · 공개 준비가 병목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09728" cy="4297680"/>
          </a:xfrm>
          <a:prstGeom prst="rect">
            <a:avLst/>
          </a:prstGeom>
          <a:solidFill>
            <a:srgbClr val="4CB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8F8"/>
                </a:solidFill>
                <a:latin typeface="Segoe UI"/>
              </a:rPr>
              <a:t>✅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  KRV · KJV · ASV 병렬 읽기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  PD 찬송 102 · 교독 51 · 기도/신경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  본문 검증 · flutter test PASS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  다크모드 · 글자크기 · 고대비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  gdrive_upload MCP (백업)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109728" cy="429768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8F8"/>
                </a:solidFill>
                <a:latin typeface="Segoe UI"/>
              </a:rPr>
              <a:t>⏳ 미완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  packageId (com.example.* 금지)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  키스토어 · AAB · 실기기 서명 테스트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  개인정보처리방침 URL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  온보딩 · 역본 저장 · 절 복사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  스크린샷 · 스토어 카피 · Console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앞으로 할 작업 — Sprint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가치 ÷ 노력 · 11월 공개에 맞춘 순서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697480" cy="429768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7F8F8"/>
                </a:solidFill>
                <a:latin typeface="Segoe U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91640"/>
            <a:ext cx="1737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9월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스토어 기술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packageId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키스토어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AAB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실기기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targetSdk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08760"/>
            <a:ext cx="2697480" cy="429768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40" y="169164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8B9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691640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7F8F8"/>
                </a:solidFill>
                <a:latin typeface="Segoe U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91640"/>
            <a:ext cx="1737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10월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14884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공개 전 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517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온보딩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역본 저장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복사/공유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라이선스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스모크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08760"/>
            <a:ext cx="2697480" cy="429768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169164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691640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090A"/>
                </a:solidFill>
                <a:latin typeface="Segoe U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691640"/>
            <a:ext cx="1737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9–10월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4884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자산·정책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517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Privacy URL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설명 카피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아이콘/피처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스크린샷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Console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508760"/>
            <a:ext cx="2697480" cy="429768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1691640"/>
            <a:ext cx="502920" cy="292608"/>
          </a:xfrm>
          <a:prstGeom prst="roundRect">
            <a:avLst>
              <a:gd name="adj" fmla="val 8000"/>
            </a:avLst>
          </a:prstGeom>
          <a:solidFill>
            <a:srgbClr val="5C6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1691640"/>
            <a:ext cx="5029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7F8F8"/>
                </a:solidFill>
                <a:latin typeface="Segoe U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1691640"/>
            <a:ext cx="1737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12월+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14884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공개 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6517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통독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위치복원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하이라이트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TTS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2열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PLAY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출시 여정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Phase 0 → 8 · 막히면 이전 Phase부터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129792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E6AD2"/>
                </a:solidFill>
                <a:latin typeface="Segoe U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7F8F8"/>
                </a:solidFill>
                <a:latin typeface="Segoe UI"/>
              </a:rPr>
              <a:t>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7848" y="22860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16B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42440" y="1828800"/>
            <a:ext cx="1129792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42440" y="20574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E6AD2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2440" y="25146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7F8F8"/>
                </a:solidFill>
                <a:latin typeface="Segoe UI"/>
              </a:rPr>
              <a:t>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7368" y="22860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16B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81960" y="1828800"/>
            <a:ext cx="1129792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1960" y="20574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E6AD2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1960" y="25146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7F8F8"/>
                </a:solidFill>
                <a:latin typeface="Segoe UI"/>
              </a:rPr>
              <a:t>서명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6888" y="22860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16B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1480" y="1828800"/>
            <a:ext cx="1129792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1480" y="20574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E6AD2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1480" y="25146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7F8F8"/>
                </a:solidFill>
                <a:latin typeface="Segoe UI"/>
              </a:rPr>
              <a:t>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6408" y="22860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16B"/>
                </a:solidFill>
                <a:latin typeface="Segoe U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61000" y="1828800"/>
            <a:ext cx="1129792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1000" y="20574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E6AD2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1000" y="25146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7F8F8"/>
                </a:solidFill>
                <a:latin typeface="Segoe UI"/>
              </a:rPr>
              <a:t>리스팅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5928" y="22860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16B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0520" y="1828800"/>
            <a:ext cx="1129792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0520" y="20574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E6AD2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0520" y="25146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7F8F8"/>
                </a:solidFill>
                <a:latin typeface="Segoe UI"/>
              </a:rPr>
              <a:t>정책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5448" y="22860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16B"/>
                </a:solidFill>
                <a:latin typeface="Segoe U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40040" y="1828800"/>
            <a:ext cx="1129792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40040" y="20574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E6AD2"/>
                </a:solidFill>
                <a:latin typeface="Segoe U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40040" y="25146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7F8F8"/>
                </a:solidFill>
                <a:latin typeface="Segoe UI"/>
              </a:rPr>
              <a:t>테스트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4968" y="22860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16B"/>
                </a:solidFill>
                <a:latin typeface="Segoe U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79560" y="1828800"/>
            <a:ext cx="1129792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79560" y="20574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E6AD2"/>
                </a:solidFill>
                <a:latin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9560" y="25146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7F8F8"/>
                </a:solidFill>
                <a:latin typeface="Segoe UI"/>
              </a:rPr>
              <a:t>심사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4488" y="228600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16B"/>
                </a:solidFill>
                <a:latin typeface="Segoe UI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19080" y="1828800"/>
            <a:ext cx="1129792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19080" y="20574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E6AD2"/>
                </a:solidFill>
                <a:latin typeface="Segoe U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9080" y="2514600"/>
            <a:ext cx="11297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7F8F8"/>
                </a:solidFill>
                <a:latin typeface="Segoe UI"/>
              </a:rPr>
              <a:t>운영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338328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3383280"/>
            <a:ext cx="91440" cy="658368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56616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B5757"/>
                </a:solidFill>
                <a:latin typeface="Segoe UI"/>
              </a:rPr>
              <a:t>차단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35661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ID · Keystore · Privacy URL이 없으면 Phase 2/5에서 정지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16052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160520"/>
            <a:ext cx="91440" cy="658368"/>
          </a:xfrm>
          <a:prstGeom prst="rect">
            <a:avLst/>
          </a:prstGeom>
          <a:solidFill>
            <a:srgbClr val="4CB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34340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CB782"/>
                </a:solidFill>
                <a:latin typeface="Segoe UI"/>
              </a:rPr>
              <a:t>권장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43434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내부 테스트 트랙으로 먼저 설치 검증 후 프로덕션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937760"/>
            <a:ext cx="11155680" cy="658368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937760"/>
            <a:ext cx="91440" cy="658368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12064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C94C"/>
                </a:solidFill>
                <a:latin typeface="Segoe UI"/>
              </a:rPr>
              <a:t>절대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51206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키스토어·key.properties 커밋 금지 · com.example.* 업로드 금지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PHASE 0–1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사전 결정 · Play Console 계정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출시 전 반드시 확정할 입력값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Phase 0 — 결정 체크리스트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☐  Application ID (평생 고정, reverse DNS)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☐  표시명: 한국어 성경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☐  지원 이메일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☐  Privacy Policy URL 호스팅처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☐  출시: Play only / APK 사이드로드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☐  키스토어 생성 경로 (예: C:\Users\LSH\secure)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Phase 1 — Console 절차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1. play.google.com/console 가입 ($25)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2. 앱 만들기 · 언어 한국어 · 무료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3. 앱/게임 · 카테고리 초안 선택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4. 정책 선언 설문 시작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5. 내부 테스트 트랙 먼저 생성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6. 테스터 이메일 추가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Package ID · 업로드 키 · 서명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Play가 거부하는 com.example.* 제거가 1순위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8F8"/>
                </a:solidFill>
                <a:latin typeface="Segoe UI"/>
              </a:rPr>
              <a:t>현재: com.example.korean_bible_app  →  목표 예: com.lsh.koreanbible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android/app/build.gradle.kts 의 applicationId · namespace 변경 후 clean 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5440680" cy="3063240"/>
          </a:xfrm>
          <a:prstGeom prst="roundRect">
            <a:avLst>
              <a:gd name="adj" fmla="val 8000"/>
            </a:avLst>
          </a:prstGeom>
          <a:solidFill>
            <a:srgbClr val="16171A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93E8"/>
                </a:solidFill>
                <a:latin typeface="Segoe UI"/>
              </a:rPr>
              <a:t>키스토어 생성 (1회)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49377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8F98"/>
                </a:solidFill>
                <a:latin typeface="Consolas"/>
              </a:rPr>
              <a:t>keytool -genkey -v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8F98"/>
                </a:solidFill>
                <a:latin typeface="Consolas"/>
              </a:rPr>
              <a:t>-keystore C:\Users\LSH\secure\korean-bible-upload.jks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8F98"/>
                </a:solidFill>
                <a:latin typeface="Consolas"/>
              </a:rPr>
              <a:t>-keyalg RSA -keysize 2048 -validity 10000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8F98"/>
                </a:solidFill>
                <a:latin typeface="Consolas"/>
              </a:rPr>
              <a:t>-alias upload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97480"/>
            <a:ext cx="5440680" cy="3063240"/>
          </a:xfrm>
          <a:prstGeom prst="roundRect">
            <a:avLst>
              <a:gd name="adj" fmla="val 8000"/>
            </a:avLst>
          </a:prstGeom>
          <a:solidFill>
            <a:srgbClr val="16171A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93E8"/>
                </a:solidFill>
                <a:latin typeface="Segoe UI"/>
              </a:rPr>
              <a:t>key.properties (gitignore)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49377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8F98"/>
                </a:solidFill>
                <a:latin typeface="Consolas"/>
              </a:rPr>
              <a:t>storePassword=***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8F98"/>
                </a:solidFill>
                <a:latin typeface="Consolas"/>
              </a:rPr>
              <a:t>keyPassword=***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8F98"/>
                </a:solidFill>
                <a:latin typeface="Consolas"/>
              </a:rPr>
              <a:t>keyAlias=upload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8A8F98"/>
                </a:solidFill>
                <a:latin typeface="Consolas"/>
              </a:rPr>
              <a:t>storeFile=C:/Users/LSH/secure/korean-bible-upload.jks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품질 게이트 · AAB / APK 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콘텐츠 변경 이후 release 재빌드 필수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8F8"/>
                </a:solidFill>
                <a:latin typeface="Segoe UI"/>
              </a:rPr>
              <a:t>flutter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2331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유닛/위젯 테스트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0876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8F8"/>
                </a:solidFill>
                <a:latin typeface="Segoe UI"/>
              </a:rPr>
              <a:t>verify_bible_texts.py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2331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성경 본문 무결성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7830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8F8"/>
                </a:solidFill>
                <a:latin typeface="Segoe UI"/>
              </a:rPr>
              <a:t>flutter 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94560"/>
            <a:ext cx="2331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정적 분석 0 errors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50876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783080"/>
            <a:ext cx="2331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7F8F8"/>
                </a:solidFill>
                <a:latin typeface="Segoe UI"/>
              </a:rPr>
              <a:t>기기 스모크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194560"/>
            <a:ext cx="2331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비행기모드 · 다크 · 큰글씨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71800"/>
            <a:ext cx="11155680" cy="28803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B93E8"/>
                </a:solidFill>
                <a:latin typeface="Segoe UI"/>
              </a:rPr>
              <a:t>PowerShell 명령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1051560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A8F98"/>
                </a:solidFill>
                <a:latin typeface="Consolas"/>
              </a:rPr>
              <a:t>cd "C:\Users\LSH\Bible App\korean-bible-app"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A8F98"/>
                </a:solidFill>
                <a:latin typeface="Consolas"/>
              </a:rPr>
              <a:t>flutter test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A8F98"/>
                </a:solidFill>
                <a:latin typeface="Consolas"/>
              </a:rPr>
              <a:t>python scripts\verify_bible_texts.py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A8F98"/>
                </a:solidFill>
                <a:latin typeface="Consolas"/>
              </a:rPr>
              <a:t>flutter build appbundle --release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A8F98"/>
                </a:solidFill>
                <a:latin typeface="Consolas"/>
              </a:rPr>
              <a:t># -&gt; build\app\outputs\bundle\release\app-release.aab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A8F98"/>
                </a:solidFill>
                <a:latin typeface="Consolas"/>
              </a:rPr>
              <a:t>flutter build apk --release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8A8F98"/>
                </a:solidFill>
                <a:latin typeface="Consolas"/>
              </a:rPr>
              <a:t>adb install -r build\app\outputs\flutter-apk\app-release.apk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PHASE 4–5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스토어 리스팅 · 정책 · 개인정보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심사에서 가장 자주 막히는 구간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8F8"/>
                </a:solidFill>
                <a:latin typeface="Segoe UI"/>
              </a:rPr>
              <a:t>아이콘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F98"/>
                </a:solidFill>
                <a:latin typeface="Segoe UI"/>
              </a:rPr>
              <a:t>512×512 PNG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39" y="14630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160020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8F8"/>
                </a:solidFill>
                <a:latin typeface="Segoe UI"/>
              </a:rPr>
              <a:t>피처 그래픽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20116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F98"/>
                </a:solidFill>
                <a:latin typeface="Segoe UI"/>
              </a:rPr>
              <a:t>1024×500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8" y="14630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8" y="160020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8F8"/>
                </a:solidFill>
                <a:latin typeface="Segoe UI"/>
              </a:rPr>
              <a:t>스크린샷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8" y="20116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F98"/>
                </a:solidFill>
                <a:latin typeface="Segoe UI"/>
              </a:rPr>
              <a:t>폰 4–8장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7" y="14630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17" y="160020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8F8"/>
                </a:solidFill>
                <a:latin typeface="Segoe UI"/>
              </a:rPr>
              <a:t>짧은 설명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17" y="20116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F98"/>
                </a:solidFill>
                <a:latin typeface="Segoe UI"/>
              </a:rPr>
              <a:t>≤ 80자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996" y="14630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36" y="160020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8F8"/>
                </a:solidFill>
                <a:latin typeface="Segoe UI"/>
              </a:rPr>
              <a:t>긴 설명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36" y="20116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F98"/>
                </a:solidFill>
                <a:latin typeface="Segoe UI"/>
              </a:rPr>
              <a:t>≤ 4000자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15" y="1463040"/>
            <a:ext cx="1783080" cy="1051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55" y="160020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8F8"/>
                </a:solidFill>
                <a:latin typeface="Segoe UI"/>
              </a:rPr>
              <a:t>등급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55" y="2011680"/>
            <a:ext cx="1600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F98"/>
                </a:solidFill>
                <a:latin typeface="Segoe UI"/>
              </a:rPr>
              <a:t>Everyone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74320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9260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8F8"/>
                </a:solidFill>
                <a:latin typeface="Segoe UI"/>
              </a:rPr>
              <a:t>카피 초안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383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8B93E8"/>
                </a:solidFill>
                <a:latin typeface="Segoe UI"/>
              </a:rPr>
              <a:t>짧은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완전 오프라인 한국어 성경 · 찬송 · 예배자료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8B93E8"/>
                </a:solidFill>
                <a:latin typeface="Segoe UI"/>
              </a:rPr>
              <a:t>긴 설명 필수 문구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KRV·KJV·ASV · PD 찬송 · 광고/계정 없음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개역개정 미수록 · 한국찬송가 공식 아님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74320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9260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8F8"/>
                </a:solidFill>
                <a:latin typeface="Segoe UI"/>
              </a:rPr>
              <a:t>정책 체크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383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☐ Privacy Policy URL 공개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☐ 데이터 보안 양식 (수집 없음)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☐ 앱 콘텐츠 / 광고 없음 선언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☐ 민감 권한 최소화 확인</a:t>
            </a:r>
          </a:p>
          <a:p>
            <a:pPr algn="l">
              <a:spcBef>
                <a:spcPts val="200"/>
              </a:spcBef>
              <a:spcAft>
                <a:spcPts val="8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☐ 콘텐츠 고지 (PD · 비공식 찬송)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PHASE 6–7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업로드 · 테스트 트랙 · 심사 · 공개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한 번에 프로덕션보다 내부 테스트 권장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91440" cy="1463040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8F8"/>
                </a:solidFill>
                <a:latin typeface="Segoe UI"/>
              </a:rPr>
              <a:t>1. 내부 테스트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빠른 설치 검증 · 소수 이메일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50876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508760"/>
            <a:ext cx="91440" cy="1463040"/>
          </a:xfrm>
          <a:prstGeom prst="rect">
            <a:avLst/>
          </a:prstGeom>
          <a:solidFill>
            <a:srgbClr val="8B9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7373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8F8"/>
                </a:solidFill>
                <a:latin typeface="Segoe UI"/>
              </a:rPr>
              <a:t>2. 비공개/오픈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2402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피드백 · 크래시 관찰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998" y="150876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0998" y="1508760"/>
            <a:ext cx="91440" cy="1463040"/>
          </a:xfrm>
          <a:prstGeom prst="rect">
            <a:avLst/>
          </a:prstGeom>
          <a:solidFill>
            <a:srgbClr val="4CB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8" y="17373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8F8"/>
                </a:solidFill>
                <a:latin typeface="Segoe UI"/>
              </a:rPr>
              <a:t>3. 프로덕션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8" y="22402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전체 사용자 공개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46120"/>
            <a:ext cx="11155680" cy="26060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8F8"/>
                </a:solidFill>
                <a:latin typeface="Segoe UI"/>
              </a:rPr>
              <a:t>제출 플로우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1.  AAB 업로드 → 버전 코드(+N) 증가 확인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2.  한국어 릴리스 노트 작성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3.  대시보드 ‘게시 전 필수 항목’ 전부 완료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4.  프로덕션 제출 → 심사 (신규 계정은 수일~수주)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5.  반려 시: 정책/권한/설명 수정 후 재제출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6.  공개 후: Vitals · 리뷰 · 핫픽스 AAB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PHASE 8 +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버전 운영 · 공개 전 최소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1.0에 넣을 것 / 나중에 넣을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공개 전 최소 UX (Sprint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93E8"/>
                </a:solidFill>
                <a:latin typeface="Segoe UI"/>
              </a:rPr>
              <a:t>온보딩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19456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PD · 3역본 · 개역개정 미수록 3줄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93E8"/>
                </a:solidFill>
                <a:latin typeface="Segoe UI"/>
              </a:rPr>
              <a:t>역본 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8346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SharedPreferences로 재선택 제거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93E8"/>
                </a:solidFill>
                <a:latin typeface="Segoe UI"/>
              </a:rPr>
              <a:t>절 복사/공유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47472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소그룹 · 카톡 실용성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148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93E8"/>
                </a:solidFill>
                <a:latin typeface="Segoe UI"/>
              </a:rPr>
              <a:t>라이선스 화면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1148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스토어 문의·신뢰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93E8"/>
                </a:solidFill>
                <a:latin typeface="Segoe UI"/>
              </a:rPr>
              <a:t>스모크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7548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비행기모드 · 접근성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8F8"/>
                </a:solidFill>
                <a:latin typeface="Segoe UI"/>
              </a:rPr>
              <a:t>운영 · 보안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9456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pubspec version: 1.0.0+1 → 매 업로드 +N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Play App Signing 사용 권장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키스토어 오프라인 백업 + 암호 관리자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분실 시 업데이트 매우 어려움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gitignore: *.jks, key.properties</a:t>
            </a:r>
          </a:p>
          <a:p>
            <a:pPr algn="l">
              <a:spcBef>
                <a:spcPts val="200"/>
              </a:spcBef>
              <a:spcAft>
                <a:spcPts val="100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·  공개 후: 통독·하이라이트·TTS는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월별 로드맵 → 2026-11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M4 기술 → M5 품질 → M6 공개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09728" cy="914400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1280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8F8"/>
                </a:solidFill>
                <a:latin typeface="Segoe UI"/>
              </a:rPr>
              <a:t>8월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847088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8F98"/>
                </a:solidFill>
                <a:latin typeface="Segoe UI"/>
              </a:rPr>
              <a:t>문서 · 재빌드 · 결정 수집 · Drive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17175" y="1828800"/>
            <a:ext cx="1188720" cy="365760"/>
          </a:xfrm>
          <a:prstGeom prst="roundRect">
            <a:avLst>
              <a:gd name="adj" fmla="val 8000"/>
            </a:avLst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17175" y="1828800"/>
            <a:ext cx="1188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7F8F8"/>
                </a:solidFill>
                <a:latin typeface="Segoe UI"/>
              </a:rPr>
              <a:t>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06040"/>
            <a:ext cx="109728" cy="914400"/>
          </a:xfrm>
          <a:prstGeom prst="rect">
            <a:avLst/>
          </a:prstGeom>
          <a:solidFill>
            <a:srgbClr val="8B9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862072"/>
            <a:ext cx="1280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8F8"/>
                </a:solidFill>
                <a:latin typeface="Segoe UI"/>
              </a:rPr>
              <a:t>9월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898648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8F98"/>
                </a:solidFill>
                <a:latin typeface="Segoe UI"/>
              </a:rPr>
              <a:t>ID · Key · AAB · Privacy · Console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17175" y="2880360"/>
            <a:ext cx="1188720" cy="365760"/>
          </a:xfrm>
          <a:prstGeom prst="roundRect">
            <a:avLst>
              <a:gd name="adj" fmla="val 8000"/>
            </a:avLst>
          </a:prstGeom>
          <a:solidFill>
            <a:srgbClr val="8B9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17175" y="2880360"/>
            <a:ext cx="1188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7F8F8"/>
                </a:solidFill>
                <a:latin typeface="Segoe UI"/>
              </a:rPr>
              <a:t>M4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657600"/>
            <a:ext cx="109728" cy="91440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13632"/>
            <a:ext cx="1280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8F8"/>
                </a:solidFill>
                <a:latin typeface="Segoe UI"/>
              </a:rPr>
              <a:t>10월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950208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8F98"/>
                </a:solidFill>
                <a:latin typeface="Segoe UI"/>
              </a:rPr>
              <a:t>UX · 스모크 · 스크린샷 · 내부테스트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17175" y="3931920"/>
            <a:ext cx="1188720" cy="365760"/>
          </a:xfrm>
          <a:prstGeom prst="roundRect">
            <a:avLst>
              <a:gd name="adj" fmla="val 8000"/>
            </a:avLst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17175" y="3931920"/>
            <a:ext cx="1188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8090A"/>
                </a:solidFill>
                <a:latin typeface="Segoe UI"/>
              </a:rPr>
              <a:t>M5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0916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709160"/>
            <a:ext cx="109728" cy="914400"/>
          </a:xfrm>
          <a:prstGeom prst="rect">
            <a:avLst/>
          </a:prstGeom>
          <a:solidFill>
            <a:srgbClr val="4CB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65192"/>
            <a:ext cx="1280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8F8"/>
                </a:solidFill>
                <a:latin typeface="Segoe UI"/>
              </a:rPr>
              <a:t>11월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001768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8F98"/>
                </a:solidFill>
                <a:latin typeface="Segoe UI"/>
              </a:rPr>
              <a:t>프로덕션 제출 · 심사 · 1.0 공개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17175" y="4983480"/>
            <a:ext cx="1188720" cy="365760"/>
          </a:xfrm>
          <a:prstGeom prst="roundRect">
            <a:avLst>
              <a:gd name="adj" fmla="val 8000"/>
            </a:avLst>
          </a:prstGeom>
          <a:solidFill>
            <a:srgbClr val="4CB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17175" y="4983480"/>
            <a:ext cx="118872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7F8F8"/>
                </a:solidFill>
                <a:latin typeface="Segoe UI"/>
              </a:rPr>
              <a:t>M6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지금 바로 할 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의사결정만 끝나면 기술 작업 착수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57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5757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8F8"/>
                </a:solidFill>
                <a:latin typeface="Segoe UI"/>
              </a:rPr>
              <a:t>packageId 문자열 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예: com.lsh.koreanbible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150876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783080"/>
            <a:ext cx="457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2C94C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8F8"/>
                </a:solidFill>
                <a:latin typeface="Segoe UI"/>
              </a:rPr>
              <a:t>키스토어 생성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7889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secure 폴더 + 비밀번호 보관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0998" y="150876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1783080"/>
            <a:ext cx="457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2C94C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3317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8F8"/>
                </a:solidFill>
                <a:latin typeface="Segoe UI"/>
              </a:rPr>
              <a:t>Privacy URL 위치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8" y="27889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GitHub Pages / Notion 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576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457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E6AD2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8F8"/>
                </a:solidFill>
                <a:latin typeface="Segoe UI"/>
              </a:rPr>
              <a:t>지원 이메일 · Play 계정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377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스토어 리스팅 필수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59" y="36576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3931920"/>
            <a:ext cx="457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8B93E8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4805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8F8"/>
                </a:solidFill>
                <a:latin typeface="Segoe UI"/>
              </a:rPr>
              <a:t>release AAB 1회 빌드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9377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내부 테스트 업로드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0998" y="36576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8" y="3931920"/>
            <a:ext cx="457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4CB782"/>
                </a:solidFill>
                <a:latin typeface="Segoe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8" y="44805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8F8"/>
                </a:solidFill>
                <a:latin typeface="Segoe UI"/>
              </a:rPr>
              <a:t>온보딩 + 역본 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8" y="49377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F98"/>
                </a:solidFill>
                <a:latin typeface="Segoe UI"/>
              </a:rPr>
              <a:t>공개 전 UX 최소셋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B93E8"/>
                </a:solidFill>
                <a:latin typeface="Segoe U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관련 문서 · 산출물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MD가 원본 · PPTX는 공유용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1155680" cy="530352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7F8F8"/>
                </a:solidFill>
                <a:latin typeface="Consolas"/>
              </a:rPr>
              <a:t>PLAYSTORE_RELEASE_GUIDE_2026-08-10.md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618488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본 가이드 원문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1155680" cy="530352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7F8F8"/>
                </a:solidFill>
                <a:latin typeface="Consolas"/>
              </a:rPr>
              <a:t>RELEASE_CHECKLIST_PLAYSTORE.md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58568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R1–R25 체크리스트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11155680" cy="530352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7F8F8"/>
                </a:solidFill>
                <a:latin typeface="Consolas"/>
              </a:rPr>
              <a:t>DEPLOY_CHECKLIST.md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898648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빌드 명령 · 결정 질문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29000"/>
            <a:ext cx="11155680" cy="530352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38728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7F8F8"/>
                </a:solidFill>
                <a:latin typeface="Consolas"/>
              </a:rPr>
              <a:t>VALUE_AND_USABILITY.md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538728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UX 백로그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69080"/>
            <a:ext cx="11155680" cy="530352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78808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7F8F8"/>
                </a:solidFill>
                <a:latin typeface="Consolas"/>
              </a:rPr>
              <a:t>VISION_AND_PLAN.md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178808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비전 · 마일스톤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09160"/>
            <a:ext cx="11155680" cy="530352"/>
          </a:xfrm>
          <a:prstGeom prst="roundRect">
            <a:avLst>
              <a:gd name="adj" fmla="val 8000"/>
            </a:avLst>
          </a:prstGeom>
          <a:solidFill>
            <a:srgbClr val="111214"/>
          </a:solidFill>
          <a:ln w="12700">
            <a:solidFill>
              <a:srgbClr val="272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18888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7F8F8"/>
                </a:solidFill>
                <a:latin typeface="Consolas"/>
              </a:rPr>
              <a:t>APPLIED_AND_ROADMAP_PLAN_2026-08-10.md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818888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F98"/>
                </a:solidFill>
                <a:latin typeface="Segoe UI"/>
              </a:rPr>
              <a:t>적용/계획 종합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Korean Bible App  ·  Play Store Release Guide  ·  Linear style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1495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16B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6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031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B93E8"/>
                </a:solidFill>
                <a:latin typeface="Segoe UI"/>
              </a:rPr>
              <a:t>READY WHEN YOU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packageId만 알려주시면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7F8F8"/>
                </a:solidFill>
                <a:latin typeface="Segoe UI"/>
              </a:rPr>
              <a:t>서명·AAB 설정부터 바로 진행합니다.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F98"/>
                </a:solidFill>
                <a:latin typeface="Segoe UI"/>
              </a:rPr>
              <a:t>문서: docs/project-management/  ·  PPTX: Desktop/Bible Project/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16B"/>
                </a:solidFill>
                <a:latin typeface="Segoe UI"/>
              </a:rPr>
              <a:t>Korean Bible App  ·  2026-08-24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