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B90B"/>
                </a:solidFill>
                <a:latin typeface="Malgun Gothic"/>
              </a:defRPr>
            </a:pPr>
            <a:r>
              <a:t>PROJECT STATUS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AECF0"/>
                </a:solidFill>
                <a:latin typeface="Malgun Gothic"/>
              </a:defRPr>
            </a:pPr>
            <a:r>
              <a:t>한국어 성경 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48E9C"/>
                </a:solidFill>
                <a:latin typeface="Malgun Gothic"/>
              </a:defRPr>
            </a:pPr>
            <a:r>
              <a:t>비전 · 현재 성과 · 공개 전 과제 · 가치 로드맵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1874519" cy="100584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291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90B"/>
                </a:solidFill>
                <a:latin typeface="Malgun Gothic"/>
              </a:defRPr>
            </a:pPr>
            <a:r>
              <a:t>~92%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94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48E9C"/>
                </a:solidFill>
                <a:latin typeface="Malgun Gothic"/>
              </a:defRPr>
            </a:pPr>
            <a:r>
              <a:t>제품 기능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3200400"/>
            <a:ext cx="1874519" cy="100584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5768" y="3291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90B"/>
                </a:solidFill>
                <a:latin typeface="Malgun Gothic"/>
              </a:defRPr>
            </a:pPr>
            <a:r>
              <a:t>2026-11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5768" y="3794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48E9C"/>
                </a:solidFill>
                <a:latin typeface="Malgun Gothic"/>
              </a:defRPr>
            </a:pPr>
            <a:r>
              <a:t>Play Store 목표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200400"/>
            <a:ext cx="1874519" cy="100584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3291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90B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3794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48E9C"/>
                </a:solidFill>
                <a:latin typeface="Malgun Gothic"/>
              </a:defRPr>
            </a:pPr>
            <a:r>
              <a:t>PD 역본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200400"/>
            <a:ext cx="1874519" cy="100584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0568" y="3291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90B"/>
                </a:solidFill>
                <a:latin typeface="Malgun Gothic"/>
              </a:defRPr>
            </a:pPr>
            <a:r>
              <a:t>102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3794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48E9C"/>
                </a:solidFill>
                <a:latin typeface="Malgun Gothic"/>
              </a:defRPr>
            </a:pPr>
            <a:r>
              <a:t>PD 찬송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48E9C"/>
                </a:solidFill>
                <a:latin typeface="Malgun Gothic"/>
              </a:defRPr>
            </a:pPr>
            <a:r>
              <a:t>Report date: 2026-08-10  ·  Binance design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90B"/>
                </a:solidFill>
                <a:latin typeface="Malgun Gothic"/>
              </a:defRPr>
            </a:pPr>
            <a:r>
              <a:t>01  비전 &amp;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48E9C"/>
                </a:solidFill>
                <a:latin typeface="Malgun Gothic"/>
              </a:defRPr>
            </a:pPr>
            <a:r>
              <a:t>Vision — why this product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91947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48E9C"/>
                </a:solidFill>
                <a:latin typeface="Malgun Gothic"/>
              </a:defRPr>
            </a:pPr>
            <a:r>
              <a:t>Korean Bible App  ·  Confidential PM Report  ·  Update after each 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914400"/>
            <a:ext cx="8321040" cy="123444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5156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AECF0"/>
                </a:solidFill>
                <a:latin typeface="Malgun Gothic"/>
              </a:defRPr>
            </a:pPr>
            <a:r>
              <a:t>비전</a:t>
            </a:r>
          </a:p>
          <a:p>
            <a:pPr>
              <a:spcAft>
                <a:spcPts val="400"/>
              </a:spcAft>
              <a:defRPr sz="1300" b="0">
                <a:solidFill>
                  <a:srgbClr val="EAECF0"/>
                </a:solidFill>
                <a:latin typeface="Malgun Gothic"/>
              </a:defRPr>
            </a:pPr>
            <a:r>
              <a:t>누구나 저작권 걱정 없이, 완전 오프라인으로 쓰는 한국어 중심 성경·예배 올인원 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77440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Malgun Gothic"/>
              </a:defRPr>
            </a:pPr>
            <a:r>
              <a:t>PD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48E9C"/>
                </a:solidFill>
                <a:latin typeface="Malgun Gothic"/>
              </a:defRPr>
            </a:pPr>
            <a:r>
              <a:t>개역개정·비-PD 찬송 미수록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377440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2606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Malgun Gothic"/>
              </a:defRPr>
            </a:pPr>
            <a:r>
              <a:t>Offline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0632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48E9C"/>
                </a:solidFill>
                <a:latin typeface="Malgun Gothic"/>
              </a:defRPr>
            </a:pPr>
            <a:r>
              <a:t>광고·계정 없는 로컬 우선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377440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606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Malgun Gothic"/>
              </a:defRPr>
            </a:pPr>
            <a: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0632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48E9C"/>
                </a:solidFill>
                <a:latin typeface="Malgun Gothic"/>
              </a:defRPr>
            </a:pPr>
            <a:r>
              <a:t>본문 검증 스크립트 PASS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2377440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2606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Malgun Gothic"/>
              </a:defRPr>
            </a:pPr>
            <a:r>
              <a:t>Practical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0632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48E9C"/>
                </a:solidFill>
                <a:latin typeface="Malgun Gothic"/>
              </a:defRPr>
            </a:pPr>
            <a:r>
              <a:t>가정·소그룹·개인 묵상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90B"/>
                </a:solidFill>
                <a:latin typeface="Malgun Gothic"/>
              </a:defRPr>
            </a:pPr>
            <a:r>
              <a:t>02  현재 상태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48E9C"/>
                </a:solidFill>
                <a:latin typeface="Malgun Gothic"/>
              </a:defRPr>
            </a:pPr>
            <a:r>
              <a:t>Where we are — product vs store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91947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48E9C"/>
                </a:solidFill>
                <a:latin typeface="Malgun Gothic"/>
              </a:defRPr>
            </a:pPr>
            <a:r>
              <a:t>Korean Bible App  ·  Confidential PM Report  ·  Update after each 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960120"/>
            <a:ext cx="4023360" cy="356616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Malgun Gothic"/>
              </a:defRPr>
            </a:pPr>
            <a:r>
              <a:t>제품 기능 완성도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554480"/>
            <a:ext cx="3566160" cy="256032"/>
          </a:xfrm>
          <a:prstGeom prst="roundRect">
            <a:avLst>
              <a:gd name="adj" fmla="val 50000"/>
            </a:avLst>
          </a:prstGeom>
          <a:solidFill>
            <a:srgbClr val="2B3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554480"/>
            <a:ext cx="3280867" cy="256032"/>
          </a:xfrm>
          <a:prstGeom prst="roundRect">
            <a:avLst>
              <a:gd name="adj" fmla="val 50000"/>
            </a:avLst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2880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48E9C"/>
                </a:solidFill>
                <a:latin typeface="Malgun Gothic"/>
              </a:defRPr>
            </a:pPr>
            <a:r>
              <a:t>██████████████████░░  ~92%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5740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✅ P0–P3 기반·읽기·북마크·탭 100%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✅ 다역본 KRV·KJV·ASV 병렬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✅ 본문 검증 verify PASS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✅ PD 찬송 102 · 교독 51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✅ 주기도문 기도 본문만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✅ flutter test 5/5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960120"/>
            <a:ext cx="4023360" cy="356616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Malgun Gothic"/>
              </a:defRPr>
            </a:pPr>
            <a:r>
              <a:t>Play Store 공개 준비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1554480"/>
            <a:ext cx="3566160" cy="256032"/>
          </a:xfrm>
          <a:prstGeom prst="roundRect">
            <a:avLst>
              <a:gd name="adj" fmla="val 50000"/>
            </a:avLst>
          </a:prstGeom>
          <a:solidFill>
            <a:srgbClr val="2B3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46320" y="155448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82880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48E9C"/>
                </a:solidFill>
                <a:latin typeface="Malgun Gothic"/>
              </a:defRPr>
            </a:pPr>
            <a:r>
              <a:t>████░░░░░░░░░░░░░░░░  ~20%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05740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⏳ packageId (com.example 교체)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⏳ 업로드 키스토어 · AAB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⏳ 개인정보처리방침 URL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⏳ 스크린샷·스토어 카피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⏳ 프로덕션 서명 기기 테스트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🔄 APK/Web 재빌드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90B"/>
                </a:solidFill>
                <a:latin typeface="Malgun Gothic"/>
              </a:defRPr>
            </a:pPr>
            <a:r>
              <a:t>03  수행 완료 내역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48E9C"/>
                </a:solidFill>
                <a:latin typeface="Malgun Gothic"/>
              </a:defRPr>
            </a:pPr>
            <a:r>
              <a:t>Shipped value — already in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91947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48E9C"/>
                </a:solidFill>
                <a:latin typeface="Malgun Gothic"/>
              </a:defRPr>
            </a:pPr>
            <a:r>
              <a:t>Korean Bible App  ·  Confidential PM Report  ·  Update after each 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91440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Malgun Gothic"/>
              </a:defRPr>
            </a:pPr>
            <a:r>
              <a:t>성경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024128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KRV 완전본 · KJV · ASV · 절 단위 최대 3역본 병렬 · 검색·북마크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50876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184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Malgun Gothic"/>
              </a:defRPr>
            </a:pPr>
            <a:r>
              <a:t>품질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618488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verify_bible_texts PASS · 골든 구절 · 장 누락 수정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0312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128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Malgun Gothic"/>
              </a:defRPr>
            </a:pPr>
            <a:r>
              <a:t>찬송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212848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PD 102곡 · 한/영 · 유래·라이선스 배너 · 교육용 SVG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69748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807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Malgun Gothic"/>
              </a:defRPr>
            </a:pPr>
            <a:r>
              <a:t>예배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807208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교독 51 · 사도신경/주기도 역본 · 기도 서사 제외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29184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4015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Malgun Gothic"/>
              </a:defRPr>
            </a:pPr>
            <a:r>
              <a:t>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401568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5탭 · 다크/글자크기/고대비 · 스플래시·아이콘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886200"/>
            <a:ext cx="8321040" cy="530352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959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Malgun Gothic"/>
              </a:defRPr>
            </a:pPr>
            <a:r>
              <a:t>문서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995928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PM 폴더 · 보고서 · 세션 로그 구조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90B"/>
                </a:solidFill>
                <a:latin typeface="Malgun Gothic"/>
              </a:defRPr>
            </a:pPr>
            <a:r>
              <a:t>04  공개 전 필수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48E9C"/>
                </a:solidFill>
                <a:latin typeface="Malgun Gothic"/>
              </a:defRPr>
            </a:pPr>
            <a:r>
              <a:t>Play Store gate — must finish before 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91947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48E9C"/>
                </a:solidFill>
                <a:latin typeface="Malgun Gothic"/>
              </a:defRPr>
            </a:pPr>
            <a:r>
              <a:t>Korean Bible App  ·  Confidential PM Report  ·  Update after each 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60120"/>
            <a:ext cx="2057400" cy="356616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097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Malgun Gothic"/>
              </a:defRPr>
            </a:pPr>
            <a:r>
              <a:t>정책·고지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5448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EAECF0"/>
                </a:solidFill>
                <a:latin typeface="Malgun Gothic"/>
              </a:defRPr>
            </a:pPr>
            <a:r>
              <a:t>• PD/NKRV 미수록 문구</a:t>
            </a:r>
          </a:p>
          <a:p>
            <a:pPr>
              <a:spcAft>
                <a:spcPts val="400"/>
              </a:spcAft>
              <a:defRPr sz="1100" b="0">
                <a:solidFill>
                  <a:srgbClr val="EAECF0"/>
                </a:solidFill>
                <a:latin typeface="Malgun Gothic"/>
              </a:defRPr>
            </a:pPr>
            <a:r>
              <a:t>• 개인정보 URL</a:t>
            </a:r>
          </a:p>
          <a:p>
            <a:pPr>
              <a:spcAft>
                <a:spcPts val="400"/>
              </a:spcAft>
              <a:defRPr sz="1100" b="0">
                <a:solidFill>
                  <a:srgbClr val="EAECF0"/>
                </a:solidFill>
                <a:latin typeface="Malgun Gothic"/>
              </a:defRPr>
            </a:pPr>
            <a:r>
              <a:t>• 연령 등급</a:t>
            </a:r>
          </a:p>
          <a:p>
            <a:pPr>
              <a:spcAft>
                <a:spcPts val="400"/>
              </a:spcAft>
              <a:defRPr sz="1100" b="0">
                <a:solidFill>
                  <a:srgbClr val="EAECF0"/>
                </a:solidFill>
                <a:latin typeface="Malgun Gothic"/>
              </a:defRPr>
            </a:pPr>
            <a:r>
              <a:t>• 지원 이메일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960120"/>
            <a:ext cx="2057400" cy="356616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1097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Malgun Gothic"/>
              </a:defRPr>
            </a:pPr>
            <a:r>
              <a:t>Android 기술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155448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EAECF0"/>
                </a:solidFill>
                <a:latin typeface="Malgun Gothic"/>
              </a:defRPr>
            </a:pPr>
            <a:r>
              <a:t>• applicationId 교체</a:t>
            </a:r>
          </a:p>
          <a:p>
            <a:pPr>
              <a:spcAft>
                <a:spcPts val="400"/>
              </a:spcAft>
              <a:defRPr sz="1100" b="0">
                <a:solidFill>
                  <a:srgbClr val="EAECF0"/>
                </a:solidFill>
                <a:latin typeface="Malgun Gothic"/>
              </a:defRPr>
            </a:pPr>
            <a:r>
              <a:t>• 키스토어</a:t>
            </a:r>
          </a:p>
          <a:p>
            <a:pPr>
              <a:spcAft>
                <a:spcPts val="400"/>
              </a:spcAft>
              <a:defRPr sz="1100" b="0">
                <a:solidFill>
                  <a:srgbClr val="EAECF0"/>
                </a:solidFill>
                <a:latin typeface="Malgun Gothic"/>
              </a:defRPr>
            </a:pPr>
            <a:r>
              <a:t>• AAB 빌드</a:t>
            </a:r>
          </a:p>
          <a:p>
            <a:pPr>
              <a:spcAft>
                <a:spcPts val="400"/>
              </a:spcAft>
              <a:defRPr sz="1100" b="0">
                <a:solidFill>
                  <a:srgbClr val="EAECF0"/>
                </a:solidFill>
                <a:latin typeface="Malgun Gothic"/>
              </a:defRPr>
            </a:pPr>
            <a:r>
              <a:t>• targetSdk 충족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960120"/>
            <a:ext cx="2057400" cy="356616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1097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Malgun Gothic"/>
              </a:defRPr>
            </a:pPr>
            <a:r>
              <a:t>품질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155448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EAECF0"/>
                </a:solidFill>
                <a:latin typeface="Malgun Gothic"/>
              </a:defRPr>
            </a:pPr>
            <a:r>
              <a:t>• 비행기모드 스모크</a:t>
            </a:r>
          </a:p>
          <a:p>
            <a:pPr>
              <a:spcAft>
                <a:spcPts val="400"/>
              </a:spcAft>
              <a:defRPr sz="1100" b="0">
                <a:solidFill>
                  <a:srgbClr val="EAECF0"/>
                </a:solidFill>
                <a:latin typeface="Malgun Gothic"/>
              </a:defRPr>
            </a:pPr>
            <a:r>
              <a:t>• 저사양 로딩</a:t>
            </a:r>
          </a:p>
          <a:p>
            <a:pPr>
              <a:spcAft>
                <a:spcPts val="400"/>
              </a:spcAft>
              <a:defRPr sz="1100" b="0">
                <a:solidFill>
                  <a:srgbClr val="EAECF0"/>
                </a:solidFill>
                <a:latin typeface="Malgun Gothic"/>
              </a:defRPr>
            </a:pPr>
            <a:r>
              <a:t>• 서명 APK 설치</a:t>
            </a:r>
          </a:p>
          <a:p>
            <a:pPr>
              <a:spcAft>
                <a:spcPts val="400"/>
              </a:spcAft>
              <a:defRPr sz="1100" b="0">
                <a:solidFill>
                  <a:srgbClr val="EAECF0"/>
                </a:solidFill>
                <a:latin typeface="Malgun Gothic"/>
              </a:defRPr>
            </a:pPr>
            <a:r>
              <a:t>• 릴리스 재빌드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960120"/>
            <a:ext cx="2057400" cy="356616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8" y="1097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Malgun Gothic"/>
              </a:defRPr>
            </a:pPr>
            <a:r>
              <a:t>스토어 자산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155448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EAECF0"/>
                </a:solidFill>
                <a:latin typeface="Malgun Gothic"/>
              </a:defRPr>
            </a:pPr>
            <a:r>
              <a:t>• 스크린샷 4–8</a:t>
            </a:r>
          </a:p>
          <a:p>
            <a:pPr>
              <a:spcAft>
                <a:spcPts val="400"/>
              </a:spcAft>
              <a:defRPr sz="1100" b="0">
                <a:solidFill>
                  <a:srgbClr val="EAECF0"/>
                </a:solidFill>
                <a:latin typeface="Malgun Gothic"/>
              </a:defRPr>
            </a:pPr>
            <a:r>
              <a:t>• 피처 그래픽</a:t>
            </a:r>
          </a:p>
          <a:p>
            <a:pPr>
              <a:spcAft>
                <a:spcPts val="400"/>
              </a:spcAft>
              <a:defRPr sz="1100" b="0">
                <a:solidFill>
                  <a:srgbClr val="EAECF0"/>
                </a:solidFill>
                <a:latin typeface="Malgun Gothic"/>
              </a:defRPr>
            </a:pPr>
            <a:r>
              <a:t>• 짧은/긴 설명</a:t>
            </a:r>
          </a:p>
          <a:p>
            <a:pPr>
              <a:spcAft>
                <a:spcPts val="400"/>
              </a:spcAft>
              <a:defRPr sz="1100" b="0">
                <a:solidFill>
                  <a:srgbClr val="EAECF0"/>
                </a:solidFill>
                <a:latin typeface="Malgun Gothic"/>
              </a:defRPr>
            </a:pPr>
            <a:r>
              <a:t>• 아이콘 최종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90B"/>
                </a:solidFill>
                <a:latin typeface="Malgun Gothic"/>
              </a:defRPr>
            </a:pPr>
            <a:r>
              <a:t>05  일정 — 2026-11 Play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48E9C"/>
                </a:solidFill>
                <a:latin typeface="Malgun Gothic"/>
              </a:defRPr>
            </a:pPr>
            <a:r>
              <a:t>Milestone roadmap to public launch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91947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48E9C"/>
                </a:solidFill>
                <a:latin typeface="Malgun Gothic"/>
              </a:defRPr>
            </a:pPr>
            <a:r>
              <a:t>Korean Bible App  ·  Confidential PM Report  ·  Update after each session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7680960" cy="54864"/>
          </a:xfrm>
          <a:prstGeom prst="rect">
            <a:avLst/>
          </a:prstGeom>
          <a:solidFill>
            <a:srgbClr val="474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2194560"/>
            <a:ext cx="320040" cy="320040"/>
          </a:xfrm>
          <a:prstGeom prst="ellipse">
            <a:avLst/>
          </a:prstGeom>
          <a:solidFill>
            <a:srgbClr val="0EC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05156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B90B"/>
                </a:solidFill>
                <a:latin typeface="Malgun Gothic"/>
              </a:defRPr>
            </a:pPr>
            <a:r>
              <a:t>8월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43200"/>
            <a:ext cx="1920240" cy="169164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880360"/>
            <a:ext cx="1691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콘텐츠 동결 후보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PM 구조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재빌드</a:t>
            </a:r>
          </a:p>
        </p:txBody>
      </p:sp>
      <p:sp>
        <p:nvSpPr>
          <p:cNvPr id="14" name="Oval 13"/>
          <p:cNvSpPr/>
          <p:nvPr/>
        </p:nvSpPr>
        <p:spPr>
          <a:xfrm>
            <a:off x="3429000" y="2194560"/>
            <a:ext cx="320040" cy="320040"/>
          </a:xfrm>
          <a:prstGeom prst="ellipse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43200" y="105156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B90B"/>
                </a:solidFill>
                <a:latin typeface="Malgun Gothic"/>
              </a:defRPr>
            </a:pPr>
            <a:r>
              <a:t>9월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2743200"/>
            <a:ext cx="1920240" cy="169164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2928" y="2880360"/>
            <a:ext cx="1691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packageId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키스토어·AAB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정책 문구</a:t>
            </a:r>
          </a:p>
        </p:txBody>
      </p:sp>
      <p:sp>
        <p:nvSpPr>
          <p:cNvPr id="19" name="Oval 18"/>
          <p:cNvSpPr/>
          <p:nvPr/>
        </p:nvSpPr>
        <p:spPr>
          <a:xfrm>
            <a:off x="5532120" y="2194560"/>
            <a:ext cx="320040" cy="320040"/>
          </a:xfrm>
          <a:prstGeom prst="ellipse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46320" y="105156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B90B"/>
                </a:solidFill>
                <a:latin typeface="Malgun Gothic"/>
              </a:defRPr>
            </a:pPr>
            <a:r>
              <a:t>10월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2743200"/>
            <a:ext cx="1920240" cy="169164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56048" y="2880360"/>
            <a:ext cx="1691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기기 테스트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온보딩·복사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스크린샷</a:t>
            </a:r>
          </a:p>
        </p:txBody>
      </p:sp>
      <p:sp>
        <p:nvSpPr>
          <p:cNvPr id="24" name="Oval 23"/>
          <p:cNvSpPr/>
          <p:nvPr/>
        </p:nvSpPr>
        <p:spPr>
          <a:xfrm>
            <a:off x="7635240" y="2194560"/>
            <a:ext cx="320040" cy="320040"/>
          </a:xfrm>
          <a:prstGeom prst="ellipse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0" y="105156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B90B"/>
                </a:solidFill>
                <a:latin typeface="Malgun Gothic"/>
              </a:defRPr>
            </a:pPr>
            <a:r>
              <a:t>11월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2743200"/>
            <a:ext cx="1920240" cy="169164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59168" y="2880360"/>
            <a:ext cx="1691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스토어 제출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심사 대응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1.0 오픈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48E9C"/>
                </a:solidFill>
                <a:latin typeface="Malgun Gothic"/>
              </a:defRPr>
            </a:pPr>
            <a:r>
              <a:t>M4 스토어 기술(9) → M5 공개 품질(10) → M6 Play 오픈(11)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90B"/>
                </a:solidFill>
                <a:latin typeface="Malgun Gothic"/>
              </a:defRPr>
            </a:pPr>
            <a:r>
              <a:t>06  사용성 · 가치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48E9C"/>
                </a:solidFill>
                <a:latin typeface="Malgun Gothic"/>
              </a:defRPr>
            </a:pPr>
            <a:r>
              <a:t>What users gain — prioritized backlog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91947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48E9C"/>
                </a:solidFill>
                <a:latin typeface="Malgun Gothic"/>
              </a:defRPr>
            </a:pPr>
            <a:r>
              <a:t>Korean Bible App  ·  Confidential PM Report  ·  Update after each 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960120"/>
            <a:ext cx="4023360" cy="356616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Malgun Gothic"/>
              </a:defRPr>
            </a:pPr>
            <a:r>
              <a:t>P0  공개 전 (가치 높음)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V1 온보딩 — 첫인상·PD 이해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V2 역본 선택 저장 — 마찰 제거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V3 절 복사/공유 — 소그룹 확산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V4 라이선스 한눈에 — 신뢰·CS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→ RELEASE 체크리스트 R22–R25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960120"/>
            <a:ext cx="4023360" cy="356616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Malgun Gothic"/>
              </a:defRPr>
            </a:pPr>
            <a:r>
              <a:t>P1–P2  공개 후 /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5544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위치 복원 · 통독 계획 · 하이라이트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교독 인도자/회중 강조 모드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태블릿 2열 · TTS · 찬송 필터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비권장: 개역개정 · 비-PD 찬송</a:t>
            </a:r>
          </a:p>
          <a:p>
            <a:pPr>
              <a:spcAft>
                <a:spcPts val="400"/>
              </a:spcAft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          강제 계정/클라우드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90B"/>
                </a:solidFill>
                <a:latin typeface="Malgun Gothic"/>
              </a:defRPr>
            </a:pPr>
            <a:r>
              <a:t>07  프로젝트 관리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48E9C"/>
                </a:solidFill>
                <a:latin typeface="Malgun Gothic"/>
              </a:defRPr>
            </a:pPr>
            <a:r>
              <a:t>Update after every work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91947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48E9C"/>
                </a:solidFill>
                <a:latin typeface="Malgun Gothic"/>
              </a:defRPr>
            </a:pPr>
            <a:r>
              <a:t>Korean Bible App  ·  Confidential PM Report  ·  Update after each 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960120"/>
            <a:ext cx="8321040" cy="137160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9728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AECF0"/>
                </a:solidFill>
                <a:latin typeface="Malgun Gothic"/>
              </a:defRPr>
            </a:pPr>
            <a:r>
              <a:t>docs/project-management/</a:t>
            </a:r>
          </a:p>
          <a:p>
            <a:pPr>
              <a:spcAft>
                <a:spcPts val="400"/>
              </a:spcAft>
              <a:defRPr sz="1300" b="0">
                <a:solidFill>
                  <a:srgbClr val="EAECF0"/>
                </a:solidFill>
                <a:latin typeface="Malgun Gothic"/>
              </a:defRPr>
            </a:pPr>
            <a:r>
              <a:t>README · VISION_AND_PLAN · RELEASE_CHECKLIST_PLAYSTORE</a:t>
            </a:r>
          </a:p>
          <a:p>
            <a:pPr>
              <a:spcAft>
                <a:spcPts val="400"/>
              </a:spcAft>
              <a:defRPr sz="1300" b="0">
                <a:solidFill>
                  <a:srgbClr val="EAECF0"/>
                </a:solidFill>
                <a:latin typeface="Malgun Gothic"/>
              </a:defRPr>
            </a:pPr>
            <a:r>
              <a:t>VALUE_AND_USABILITY · SESSION_UPDATE_LOG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560320"/>
            <a:ext cx="1645920" cy="192024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B90B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08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AECF0"/>
                </a:solidFill>
                <a:latin typeface="Malgun Gothic"/>
              </a:defRPr>
            </a:pPr>
            <a:r>
              <a:t>SESSION_LOG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204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48E9C"/>
                </a:solidFill>
                <a:latin typeface="Malgun Gothic"/>
              </a:defRPr>
            </a:pPr>
            <a:r>
              <a:t>오늘 한 일 / 막힌 일 / 다음 1건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2560320"/>
            <a:ext cx="1645920" cy="192024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2697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B90B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108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AECF0"/>
                </a:solidFill>
                <a:latin typeface="Malgun Gothic"/>
              </a:defRPr>
            </a:pPr>
            <a:r>
              <a:t>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5204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48E9C"/>
                </a:solidFill>
                <a:latin typeface="Malgun Gothic"/>
              </a:defRPr>
            </a:pPr>
            <a:r>
              <a:t>완료 항목 ✅ 체크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2560320"/>
            <a:ext cx="1645920" cy="192024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40" y="2697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B90B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3108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AECF0"/>
                </a:solidFill>
                <a:latin typeface="Malgun Gothic"/>
              </a:defRPr>
            </a:pPr>
            <a:r>
              <a:t>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35204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48E9C"/>
                </a:solidFill>
                <a:latin typeface="Malgun Gothic"/>
              </a:defRPr>
            </a:pPr>
            <a:r>
              <a:t>공개 전 상태 변경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59" y="2560320"/>
            <a:ext cx="1645920" cy="192024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4999" y="2697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B90B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4999" y="3108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AECF0"/>
                </a:solidFill>
                <a:latin typeface="Malgun Gothic"/>
              </a:defRPr>
            </a:pPr>
            <a:r>
              <a:t>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4999" y="35204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48E9C"/>
                </a:solidFill>
                <a:latin typeface="Malgun Gothic"/>
              </a:defRPr>
            </a:pPr>
            <a:r>
              <a:t>진행률 % 한 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19" y="2560320"/>
            <a:ext cx="1645920" cy="192024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59" y="2697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B90B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59" y="3108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AECF0"/>
                </a:solidFill>
                <a:latin typeface="Malgun Gothic"/>
              </a:defRPr>
            </a:pPr>
            <a:r>
              <a:t>PPTX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59" y="35204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48E9C"/>
                </a:solidFill>
                <a:latin typeface="Malgun Gothic"/>
              </a:defRPr>
            </a:pPr>
            <a:r>
              <a:t>날짜 파일명 재생성 (선택)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90B"/>
                </a:solidFill>
                <a:latin typeface="Malgun Gothic"/>
              </a:defRPr>
            </a:pPr>
            <a:r>
              <a:t>08  리스크 &amp; 성공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48E9C"/>
                </a:solidFill>
                <a:latin typeface="Malgun Gothic"/>
              </a:defRPr>
            </a:pPr>
            <a:r>
              <a:t>Stay green until November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91947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48E9C"/>
                </a:solidFill>
                <a:latin typeface="Malgun Gothic"/>
              </a:defRPr>
            </a:pPr>
            <a:r>
              <a:t>Korean Bible App  ·  Confidential PM Report  ·  Update after each 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960120"/>
            <a:ext cx="8321040" cy="68580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43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6465D"/>
                </a:solidFill>
                <a:latin typeface="Malgun Gothic"/>
              </a:defRPr>
            </a:pPr>
            <a:r>
              <a:t>packageId 미변경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143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Play 업로드 거부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143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B90B"/>
                </a:solidFill>
                <a:latin typeface="Malgun Gothic"/>
              </a:defRPr>
            </a:pPr>
            <a:r>
              <a:t>9월 1주 내 확정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737360"/>
            <a:ext cx="8321040" cy="68580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6465D"/>
                </a:solidFill>
                <a:latin typeface="Malgun Gothic"/>
              </a:defRPr>
            </a:pPr>
            <a:r>
              <a:t>키스토어 분실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업데이트 불가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B90B"/>
                </a:solidFill>
                <a:latin typeface="Malgun Gothic"/>
              </a:defRPr>
            </a:pPr>
            <a:r>
              <a:t>오프라인 금고 백업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514600"/>
            <a:ext cx="8321040" cy="68580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6465D"/>
                </a:solidFill>
                <a:latin typeface="Malgun Gothic"/>
              </a:defRPr>
            </a:pPr>
            <a:r>
              <a:t>정책 문구 미비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심사 반려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B90B"/>
                </a:solidFill>
                <a:latin typeface="Malgun Gothic"/>
              </a:defRPr>
            </a:pPr>
            <a:r>
              <a:t>PD/수집없음 명시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291839"/>
            <a:ext cx="8321040" cy="685800"/>
          </a:xfrm>
          <a:prstGeom prst="roundRect">
            <a:avLst>
              <a:gd name="adj" fmla="val 8000"/>
            </a:avLst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4747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6465D"/>
                </a:solidFill>
                <a:latin typeface="Malgun Gothic"/>
              </a:defRPr>
            </a:pPr>
            <a:r>
              <a:t>대용량 첫 로딩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4747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AECF0"/>
                </a:solidFill>
                <a:latin typeface="Malgun Gothic"/>
              </a:defRPr>
            </a:pPr>
            <a:r>
              <a:t>이탈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4747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B90B"/>
                </a:solidFill>
                <a:latin typeface="Malgun Gothic"/>
              </a:defRPr>
            </a:pPr>
            <a:r>
              <a:t>스플래시·진행 표시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90B"/>
                </a:solidFill>
                <a:latin typeface="Malgun Gothic"/>
              </a:defRPr>
            </a:pPr>
            <a:r>
              <a:t>09  다음 액션 · Top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48E9C"/>
                </a:solidFill>
                <a:latin typeface="Malgun Gothic"/>
              </a:defRPr>
            </a:pPr>
            <a:r>
              <a:t>Start here next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91947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48E9C"/>
                </a:solidFill>
                <a:latin typeface="Malgun Gothic"/>
              </a:defRPr>
            </a:pPr>
            <a:r>
              <a:t>Korean Bible App  ·  Confidential PM Report  ·  Update after each 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2B3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B90B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ECF0"/>
                </a:solidFill>
                <a:latin typeface="Malgun Gothic"/>
              </a:defRPr>
            </a:pPr>
            <a:r>
              <a:t>스토어 기술 게이트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848E9C"/>
                </a:solidFill>
                <a:latin typeface="Malgun Gothic"/>
              </a:defRPr>
            </a:pPr>
            <a:r>
              <a:t>packageId · 키스토어 · AAB</a:t>
            </a:r>
          </a:p>
          <a:p>
            <a:pPr>
              <a:spcAft>
                <a:spcPts val="400"/>
              </a:spcAft>
              <a:defRPr sz="1300" b="0">
                <a:solidFill>
                  <a:srgbClr val="848E9C"/>
                </a:solidFill>
                <a:latin typeface="Malgun Gothic"/>
              </a:defRPr>
            </a:pPr>
            <a:r>
              <a:t>privacy URL · 지원 이메일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09728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2B3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325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B90B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ECF0"/>
                </a:solidFill>
                <a:latin typeface="Malgun Gothic"/>
              </a:defRPr>
            </a:pPr>
            <a:r>
              <a:t>공개 최소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60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848E9C"/>
                </a:solidFill>
                <a:latin typeface="Malgun Gothic"/>
              </a:defRPr>
            </a:pPr>
            <a:r>
              <a:t>온보딩 · 역본 저장</a:t>
            </a:r>
          </a:p>
          <a:p>
            <a:pPr>
              <a:spcAft>
                <a:spcPts val="400"/>
              </a:spcAft>
              <a:defRPr sz="1300" b="0">
                <a:solidFill>
                  <a:srgbClr val="848E9C"/>
                </a:solidFill>
                <a:latin typeface="Malgun Gothic"/>
              </a:defRPr>
            </a:pPr>
            <a:r>
              <a:t>절 복사 · 라이선스 화면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09728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2B3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325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B90B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ECF0"/>
                </a:solidFill>
                <a:latin typeface="Malgun Gothic"/>
              </a:defRPr>
            </a:pPr>
            <a:r>
              <a:t>품질·제출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60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848E9C"/>
                </a:solidFill>
                <a:latin typeface="Malgun Gothic"/>
              </a:defRPr>
            </a:pPr>
            <a:r>
              <a:t>재빌드 · 기기 스모크</a:t>
            </a:r>
          </a:p>
          <a:p>
            <a:pPr>
              <a:spcAft>
                <a:spcPts val="400"/>
              </a:spcAft>
              <a:defRPr sz="1300" b="0">
                <a:solidFill>
                  <a:srgbClr val="848E9C"/>
                </a:solidFill>
                <a:latin typeface="Malgun Gothic"/>
              </a:defRPr>
            </a:pPr>
            <a:r>
              <a:t>스크린샷 · Play 제출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B90B"/>
                </a:solidFill>
                <a:latin typeface="Malgun Gothic"/>
              </a:defRPr>
            </a:pPr>
            <a:r>
              <a:t>목표: 2026-11 Play Store  ·  보고서 파일: KoreanBible_ProjectReport_2026-08-10.pptx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