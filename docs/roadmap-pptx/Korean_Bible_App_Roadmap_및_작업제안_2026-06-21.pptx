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0"/>
            <a:ext cx="137160" cy="10972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Malgun Gothic"/>
              </a:defRPr>
            </a:pPr>
            <a:r>
              <a:t>한국어 성경 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CCFBF1"/>
                </a:solidFill>
                <a:latin typeface="Malgun Gothic"/>
              </a:defRPr>
            </a:pPr>
            <a:r>
              <a:t>로드맵 및 작업 제안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Malgun Gothic"/>
              </a:defRPr>
            </a:pPr>
            <a:r>
              <a:t>Updated 2026-06-21 | 완전 무료 오프라인 한국어 성경 앱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3A5F"/>
                </a:solidFill>
                <a:latin typeface="Malgun Gothic"/>
              </a:defRPr>
            </a:pPr>
            <a:r>
              <a:t>프로젝트 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293B"/>
                </a:solidFill>
              </a:defRPr>
            </a:pPr>
            <a:r>
              <a:t>비전</a:t>
            </a:r>
            <a:br/>
            <a:r>
              <a:t>완전 무료 오프라인 한국어 성경 앱 (Public Domain - 개역개정 등)</a:t>
            </a:r>
            <a:br/>
            <a:br/>
            <a:r>
              <a:t>주요 목표</a:t>
            </a:r>
            <a:br/>
            <a:r>
              <a:t>• 인터넷 없이 성경 읽기, 검색, 북마크, 메모 지원</a:t>
            </a:r>
            <a:br/>
            <a:r>
              <a:t>• 접근성 중심 UI (큰 글씨, 다크모드)</a:t>
            </a:r>
            <a:br/>
            <a:r>
              <a:t>• Flutter로 모든 플랫폼 지원 (Android, iOS, Web, Desktop)</a:t>
            </a:r>
            <a:br/>
            <a:br/>
            <a:r>
              <a:t>데이터</a:t>
            </a:r>
            <a:br/>
            <a:r>
              <a:t>Public Domain 한국어 성경 데이터 활용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3A5F"/>
                </a:solidFill>
                <a:latin typeface="Malgun Gothic"/>
              </a:defRPr>
            </a:pPr>
            <a:r>
              <a:t>현재 상태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293B"/>
                </a:solidFill>
              </a:defRPr>
            </a:pPr>
            <a:r>
              <a:t>완료</a:t>
            </a:r>
            <a:br/>
            <a:r>
              <a:t>• Flutter 프로젝트 초기화 및 다중 플랫폼 준비</a:t>
            </a:r>
            <a:br/>
            <a:r>
              <a:t>• Hive, Provider 등 의존성 설정 완료</a:t>
            </a:r>
            <a:br/>
            <a:r>
              <a:t>• 성경 데이터 assets/data/에 배치</a:t>
            </a:r>
            <a:br/>
            <a:r>
              <a:t>• 기본 앱 스켈레톤 (Hive init + 한국어 UI)</a:t>
            </a:r>
            <a:br/>
            <a:r>
              <a:t>• flutter analyze 클린 + Windows 빌드 성공</a:t>
            </a:r>
            <a:br/>
            <a:br/>
            <a:r>
              <a:t>진행 중 / 미완성</a:t>
            </a:r>
            <a:br/>
            <a:r>
              <a:t>• 실제 성경 데이터 로딩 및 UI 미구현</a:t>
            </a:r>
            <a:br/>
            <a:r>
              <a:t>• Hive 모델/어댑터 미구현</a:t>
            </a:r>
            <a:br/>
            <a:r>
              <a:t>• 로드맵/백로그 문서 이제 작성 완료 (Updated 2026-06-21)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3A5F"/>
                </a:solidFill>
                <a:latin typeface="Malgun Gothic"/>
              </a:defRPr>
            </a:pPr>
            <a:r>
              <a:t>기술 스택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293B"/>
                </a:solidFill>
              </a:defRPr>
            </a:pPr>
            <a:r>
              <a:t>핵심</a:t>
            </a:r>
            <a:br/>
            <a:r>
              <a:t>• Flutter (크로스 플랫폼)</a:t>
            </a:r>
            <a:br/>
            <a:r>
              <a:t>• Hive (오프라인 NoSQL DB) + hive_generator</a:t>
            </a:r>
            <a:br/>
            <a:r>
              <a:t>• Provider (상태 관리)</a:t>
            </a:r>
            <a:br/>
            <a:br/>
            <a:r>
              <a:t>UI &amp; 기타</a:t>
            </a:r>
            <a:br/>
            <a:r>
              <a:t>• Material Design + 접근성 (폰트 크기)</a:t>
            </a:r>
            <a:br/>
            <a:r>
              <a:t>• Assets: assets/data/ (성경 JSON)</a:t>
            </a:r>
            <a:br/>
            <a:br/>
            <a:r>
              <a:t>향후 고려</a:t>
            </a:r>
            <a:br/>
            <a:r>
              <a:t>• shared_preferences (설정 저장)</a:t>
            </a:r>
            <a:br/>
            <a:r>
              <a:t>• 데이터 최적화 (lazy load, 인덱싱)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E3A5F"/>
                </a:solidFill>
                <a:latin typeface="Malgun Gothic"/>
              </a:defRPr>
            </a:pPr>
            <a:r>
              <a:t>개발 단계 개요 (Phases)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005840"/>
            <a:ext cx="132588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05840"/>
            <a:ext cx="1325880" cy="4572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078992"/>
            <a:ext cx="12344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Phase 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554480"/>
            <a:ext cx="12344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E293B"/>
                </a:solidFill>
                <a:latin typeface="Malgun Gothic"/>
              </a:defRPr>
            </a:pPr>
            <a:r>
              <a:t>기반 구축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286000"/>
            <a:ext cx="12344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D9488"/>
                </a:solidFill>
                <a:latin typeface="Malgun Gothic"/>
              </a:defRPr>
            </a:pPr>
            <a:r>
              <a:t>완료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764792" y="1005840"/>
            <a:ext cx="132588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764792" y="1005840"/>
            <a:ext cx="1325880" cy="4572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10512" y="1078992"/>
            <a:ext cx="12344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Phase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10512" y="1554480"/>
            <a:ext cx="12344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E293B"/>
                </a:solidFill>
                <a:latin typeface="Malgun Gothic"/>
              </a:defRPr>
            </a:pPr>
            <a:r>
              <a:t>데이터 계층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10512" y="2286000"/>
            <a:ext cx="12344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D9488"/>
                </a:solidFill>
                <a:latin typeface="Malgun Gothic"/>
              </a:defRPr>
            </a:pPr>
            <a:r>
              <a:t>최우선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163824" y="1005840"/>
            <a:ext cx="132588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163824" y="1005840"/>
            <a:ext cx="1325880" cy="4572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9544" y="1078992"/>
            <a:ext cx="12344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Phase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9544" y="1554480"/>
            <a:ext cx="12344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E293B"/>
                </a:solidFill>
                <a:latin typeface="Malgun Gothic"/>
              </a:defRPr>
            </a:pPr>
            <a:r>
              <a:t>핵심 읽기 MVP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9544" y="2286000"/>
            <a:ext cx="12344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D9488"/>
                </a:solidFill>
                <a:latin typeface="Malgun Gothic"/>
              </a:defRPr>
            </a:pPr>
            <a:r>
              <a:t>MVP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62856" y="1005840"/>
            <a:ext cx="132588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62856" y="1005840"/>
            <a:ext cx="1325880" cy="4572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08576" y="1078992"/>
            <a:ext cx="12344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Phase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08576" y="1554480"/>
            <a:ext cx="12344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E293B"/>
                </a:solidFill>
                <a:latin typeface="Malgun Gothic"/>
              </a:defRPr>
            </a:pPr>
            <a:r>
              <a:t>사용자 기능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08576" y="2286000"/>
            <a:ext cx="12344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D97706"/>
                </a:solidFill>
                <a:latin typeface="Malgun Gothic"/>
              </a:defRPr>
            </a:pPr>
            <a:r>
              <a:t>중요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61888" y="1005840"/>
            <a:ext cx="132588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961888" y="1005840"/>
            <a:ext cx="1325880" cy="4572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07608" y="1078992"/>
            <a:ext cx="12344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Phase 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07608" y="1554480"/>
            <a:ext cx="12344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E293B"/>
                </a:solidFill>
                <a:latin typeface="Malgun Gothic"/>
              </a:defRPr>
            </a:pPr>
            <a:r>
              <a:t>UI/UX 고도화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07608" y="2286000"/>
            <a:ext cx="12344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D97706"/>
                </a:solidFill>
                <a:latin typeface="Malgun Gothic"/>
              </a:defRPr>
            </a:pPr>
            <a:r>
              <a:t>품질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60920" y="1005840"/>
            <a:ext cx="132588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360920" y="1005840"/>
            <a:ext cx="1325880" cy="4572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06640" y="1078992"/>
            <a:ext cx="12344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Phase 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06640" y="1554480"/>
            <a:ext cx="12344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E293B"/>
                </a:solidFill>
                <a:latin typeface="Malgun Gothic"/>
              </a:defRPr>
            </a:pPr>
            <a:r>
              <a:t>배포 &amp; 플랫폼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06640" y="2286000"/>
            <a:ext cx="12344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D97706"/>
                </a:solidFill>
                <a:latin typeface="Malgun Gothic"/>
              </a:defRPr>
            </a:pPr>
            <a:r>
              <a:t>릴리스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384048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algun Gothic"/>
              </a:defRPr>
            </a:pPr>
            <a:r>
              <a:t>Phase 1부터 시작하여 데이터 계층을 완성한 후, 순차적으로 MVP → 기능 → 품질 → 배포로 진행합니다. 각 Phase의 상세 작업은 다음 슬라이드 참조.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E3A5F"/>
                </a:solidFill>
                <a:latin typeface="Malgun Gothic"/>
              </a:defRPr>
            </a:pPr>
            <a:r>
              <a:t>Phase 1: 데이터 계층 (최우선)</a:t>
            </a:r>
          </a:p>
        </p:txBody>
      </p:sp>
      <p:sp>
        <p:nvSpPr>
          <p:cNvPr id="5" name="Oval 4"/>
          <p:cNvSpPr/>
          <p:nvPr/>
        </p:nvSpPr>
        <p:spPr>
          <a:xfrm>
            <a:off x="457200" y="960120"/>
            <a:ext cx="137160" cy="13716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7955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Malgun Gothic"/>
              </a:defRPr>
            </a:pPr>
            <a:r>
              <a:t>성경 데이터 모델 정의 (BibleBook, Chapter, Verse, VerseRef)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1399032"/>
            <a:ext cx="137160" cy="13716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53312"/>
            <a:ext cx="7955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Malgun Gothic"/>
              </a:defRPr>
            </a:pPr>
            <a:r>
              <a:t>Hive 어댑터 생성 (@HiveType, @HiveField)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1837943"/>
            <a:ext cx="137160" cy="13716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792224"/>
            <a:ext cx="7955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Malgun Gothic"/>
              </a:defRPr>
            </a:pPr>
            <a:r>
              <a:t>build_runner 실행으로 어댑터 코드 생성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2276856"/>
            <a:ext cx="137160" cy="13716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231136"/>
            <a:ext cx="7955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Malgun Gothic"/>
              </a:defRPr>
            </a:pPr>
            <a:r>
              <a:t>JSON 파서 서비스 구현 (rootBundle 사용)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2715768"/>
            <a:ext cx="137160" cy="13716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670048"/>
            <a:ext cx="7955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Malgun Gothic"/>
              </a:defRPr>
            </a:pPr>
            <a:r>
              <a:t>앱 시작 시 데이터 로드 + Hive Box 시드</a:t>
            </a:r>
          </a:p>
        </p:txBody>
      </p:sp>
      <p:sp>
        <p:nvSpPr>
          <p:cNvPr id="15" name="Oval 14"/>
          <p:cNvSpPr/>
          <p:nvPr/>
        </p:nvSpPr>
        <p:spPr>
          <a:xfrm>
            <a:off x="457200" y="3154679"/>
            <a:ext cx="137160" cy="13716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108960"/>
            <a:ext cx="7955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Malgun Gothic"/>
              </a:defRPr>
            </a:pPr>
            <a:r>
              <a:t>데이터 검증 및 로딩 성능 측정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E3A5F"/>
                </a:solidFill>
                <a:latin typeface="Malgun Gothic"/>
              </a:defRPr>
            </a:pPr>
            <a:r>
              <a:t>Phase 2: 핵심 읽기 MVP</a:t>
            </a:r>
          </a:p>
        </p:txBody>
      </p:sp>
      <p:sp>
        <p:nvSpPr>
          <p:cNvPr id="5" name="Oval 4"/>
          <p:cNvSpPr/>
          <p:nvPr/>
        </p:nvSpPr>
        <p:spPr>
          <a:xfrm>
            <a:off x="457200" y="960120"/>
            <a:ext cx="137160" cy="13716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7955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Malgun Gothic"/>
              </a:defRPr>
            </a:pPr>
            <a:r>
              <a:t>책 목록 화면 (구약/신약 분류)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1399032"/>
            <a:ext cx="137160" cy="13716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53312"/>
            <a:ext cx="7955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Malgun Gothic"/>
              </a:defRPr>
            </a:pPr>
            <a:r>
              <a:t>장 선택 화면 (그리드 또는 목록)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1837943"/>
            <a:ext cx="137160" cy="13716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792224"/>
            <a:ext cx="7955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Malgun Gothic"/>
              </a:defRPr>
            </a:pPr>
            <a:r>
              <a:t>본문 뷰어 (절 단위 표시, 스크롤)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2276856"/>
            <a:ext cx="137160" cy="13716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231136"/>
            <a:ext cx="7955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Malgun Gothic"/>
              </a:defRPr>
            </a:pPr>
            <a:r>
              <a:t>이전/다음 장·책 네비게이션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2715768"/>
            <a:ext cx="137160" cy="13716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670048"/>
            <a:ext cx="7955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Malgun Gothic"/>
              </a:defRPr>
            </a:pPr>
            <a:r>
              <a:t>현재 읽기 위치 저장 (Provider + 로컬)</a:t>
            </a:r>
          </a:p>
        </p:txBody>
      </p:sp>
      <p:sp>
        <p:nvSpPr>
          <p:cNvPr id="15" name="Oval 14"/>
          <p:cNvSpPr/>
          <p:nvPr/>
        </p:nvSpPr>
        <p:spPr>
          <a:xfrm>
            <a:off x="457200" y="3154679"/>
            <a:ext cx="137160" cy="13716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108960"/>
            <a:ext cx="7955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Malgun Gothic"/>
              </a:defRPr>
            </a:pPr>
            <a:r>
              <a:t>하단 네비게이션 연결 (성경/북마크/검색)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E3A5F"/>
                </a:solidFill>
                <a:latin typeface="Malgun Gothic"/>
              </a:defRPr>
            </a:pPr>
            <a:r>
              <a:t>Phase 3+: 사용자 기능 및 고도화</a:t>
            </a:r>
          </a:p>
        </p:txBody>
      </p:sp>
      <p:sp>
        <p:nvSpPr>
          <p:cNvPr id="5" name="Oval 4"/>
          <p:cNvSpPr/>
          <p:nvPr/>
        </p:nvSpPr>
        <p:spPr>
          <a:xfrm>
            <a:off x="457200" y="960120"/>
            <a:ext cx="137160" cy="13716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7955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Malgun Gothic"/>
              </a:defRPr>
            </a:pPr>
            <a:r>
              <a:t>북마크, 하이라이트, 메모 (Hive 저장)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1399032"/>
            <a:ext cx="137160" cy="13716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53312"/>
            <a:ext cx="7955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Malgun Gothic"/>
              </a:defRPr>
            </a:pPr>
            <a:r>
              <a:t>본문 검색 기능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1837943"/>
            <a:ext cx="137160" cy="13716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792224"/>
            <a:ext cx="7955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Malgun Gothic"/>
              </a:defRPr>
            </a:pPr>
            <a:r>
              <a:t>설정 화면 (글꼴 크기, 테마, 버전)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2276856"/>
            <a:ext cx="137160" cy="13716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231136"/>
            <a:ext cx="7955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Malgun Gothic"/>
              </a:defRPr>
            </a:pPr>
            <a:r>
              <a:t>다크모드 완성 + 접근성 강화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2715768"/>
            <a:ext cx="137160" cy="13716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670048"/>
            <a:ext cx="7955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Malgun Gothic"/>
              </a:defRPr>
            </a:pPr>
            <a:r>
              <a:t>Android / iOS / Web 빌드 검증</a:t>
            </a:r>
          </a:p>
        </p:txBody>
      </p:sp>
      <p:sp>
        <p:nvSpPr>
          <p:cNvPr id="15" name="Oval 14"/>
          <p:cNvSpPr/>
          <p:nvPr/>
        </p:nvSpPr>
        <p:spPr>
          <a:xfrm>
            <a:off x="457200" y="3154679"/>
            <a:ext cx="137160" cy="13716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108960"/>
            <a:ext cx="7955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Malgun Gothic"/>
              </a:defRPr>
            </a:pPr>
            <a:r>
              <a:t>앱 아이콘, 릴리스 준비 및 스토어 제출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E3A5F"/>
                </a:solidFill>
                <a:latin typeface="Malgun Gothic"/>
              </a:defRPr>
            </a:pPr>
            <a:r>
              <a:t>우선순위 작업 순서 (요약)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68680"/>
            <a:ext cx="8229600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914400"/>
            <a:ext cx="7863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algun Gothic"/>
              </a:defRPr>
            </a:pPr>
            <a:r>
              <a:t>1. Phase 1: 데이터 모델 정의 (BibleBook, Chapter, Verse)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25880"/>
            <a:ext cx="8229600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7863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algun Gothic"/>
              </a:defRPr>
            </a:pPr>
            <a:r>
              <a:t>2. Hive 어댑터 생성 및 build_runner 실행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783080"/>
            <a:ext cx="8229600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828800"/>
            <a:ext cx="7863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algun Gothic"/>
              </a:defRPr>
            </a:pPr>
            <a:r>
              <a:t>3. JSON 파서 + 앱 시작 시 데이터 로드 구현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240280"/>
            <a:ext cx="8229600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286000"/>
            <a:ext cx="7863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algun Gothic"/>
              </a:defRPr>
            </a:pPr>
            <a:r>
              <a:t>4. Phase 2: 책 목록 + 장 선택 + 본문 뷰어 UI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697480"/>
            <a:ext cx="8229600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743200"/>
            <a:ext cx="7863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algun Gothic"/>
              </a:defRPr>
            </a:pPr>
            <a:r>
              <a:t>5. 네비게이션 및 현재 위치 저장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154680"/>
            <a:ext cx="8229600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200400"/>
            <a:ext cx="7863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algun Gothic"/>
              </a:defRPr>
            </a:pPr>
            <a:r>
              <a:t>6. 북마크 / 검색 기능 (Hive 기반)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611880"/>
            <a:ext cx="8229600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657600"/>
            <a:ext cx="7863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algun Gothic"/>
              </a:defRPr>
            </a:pPr>
            <a:r>
              <a:t>7. 설정 화면 및 UI 고도화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069080"/>
            <a:ext cx="8229600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114800"/>
            <a:ext cx="7863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algun Gothic"/>
              </a:defRPr>
            </a:pPr>
            <a:r>
              <a:t>8. Android/iOS 빌드 검증 및 릴리스 준비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Malgun Gothic"/>
              </a:defRPr>
            </a:pPr>
            <a:r>
              <a:t>상세 백로그: docs/Task_Prioritized_Backlog_and_Schedule_2026-06-19.md 참조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E3A5F"/>
                </a:solidFill>
                <a:latin typeface="Malgun Gothic"/>
              </a:defRPr>
            </a:pPr>
            <a:r>
              <a:t>리스크 및 다음 단계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D9488"/>
                </a:solidFill>
                <a:latin typeface="Malgun Gothic"/>
              </a:defRPr>
            </a:pPr>
            <a:r>
              <a:t>주요 리스크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algun Gothic"/>
              </a:defRPr>
            </a:pPr>
            <a:r>
              <a:t>• 대용량 JSON 데이터 (7MB+) 로딩 성능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81912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algun Gothic"/>
              </a:defRPr>
            </a:pPr>
            <a:r>
              <a:t>• 모바일에서의 메모리/성능 최적화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29384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algun Gothic"/>
              </a:defRPr>
            </a:pPr>
            <a:r>
              <a:t>• 데이터 정확성 검증 필요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76856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algun Gothic"/>
              </a:defRPr>
            </a:pPr>
            <a:r>
              <a:t>• 문서(백로그/스펙) 지속 업데이트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82296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97706"/>
                </a:solidFill>
                <a:latin typeface="Malgun Gothic"/>
              </a:defRPr>
            </a:pPr>
            <a:r>
              <a:t>즉시 추천 작업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123444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algun Gothic"/>
              </a:defRPr>
            </a:pPr>
            <a:r>
              <a:t>1. 데이터 모델 + Hive 어댑터 (Phase 1)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1581912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algun Gothic"/>
              </a:defRPr>
            </a:pPr>
            <a:r>
              <a:t>2. JSON 로더 구현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1929384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algun Gothic"/>
              </a:defRPr>
            </a:pPr>
            <a:r>
              <a:t>3. 기본 성경 읽기 UI (Phase 2)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2276856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algun Gothic"/>
              </a:defRPr>
            </a:pPr>
            <a:r>
              <a:t>4. Windows 앱 실행 테스트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474720"/>
            <a:ext cx="8229600" cy="1280160"/>
          </a:xfrm>
          <a:prstGeom prst="round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657600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3A5F"/>
                </a:solidFill>
                <a:latin typeface="Malgun Gothic"/>
              </a:defRPr>
            </a:pPr>
            <a:r>
              <a:t>로드맵 문서: docs/Project_Status_and_Updated_Roadmap_2026-06-19.md</a:t>
            </a:r>
            <a:br/>
            <a:r>
              <a:t>백로그 문서: docs/Task_Prioritized_Backlog_and_Schedule_2026-06-19.md</a:t>
            </a:r>
            <a:br/>
            <a:br/>
            <a:r>
              <a:t>이 문서를 기반으로 Phase 1부터 순차 진행을 권장합니다.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